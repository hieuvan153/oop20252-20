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3"/>
  </p:notesMasterIdLst>
  <p:handoutMasterIdLst>
    <p:handoutMasterId r:id="rId34"/>
  </p:handoutMasterIdLst>
  <p:sldIdLst>
    <p:sldId id="257" r:id="rId2"/>
    <p:sldId id="277" r:id="rId3"/>
    <p:sldId id="278" r:id="rId4"/>
    <p:sldId id="279" r:id="rId5"/>
    <p:sldId id="280" r:id="rId6"/>
    <p:sldId id="290" r:id="rId7"/>
    <p:sldId id="281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282" r:id="rId29"/>
    <p:sldId id="288" r:id="rId30"/>
    <p:sldId id="289" r:id="rId31"/>
    <p:sldId id="269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5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per use case. Actors: Player (menu, crop care, inventory, advance time) and Time (weather, random events, pests).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screenshots / live demo: Main Menu, In-Game grid with toolbar, Shop, and the Game Over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hFmDBq2Wg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000" dirty="0"/>
              <a:t>SMART FARM SIMULATOR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20116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l">
              <a:spcAft>
                <a:spcPts val="600"/>
              </a:spcAft>
            </a:pPr>
            <a:r>
              <a:rPr sz="1800" b="1">
                <a:solidFill>
                  <a:srgbClr val="C00000"/>
                </a:solidFill>
                <a:latin typeface="Calibri"/>
              </a:rPr>
              <a:t>Object-Oriented Programming — Capstone Project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Group OOP.20252-20   ·   Class 166241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Instructor: Nguyễn Thị Thu Trang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Arial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8229600" cy="47091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marL="228600" indent="-171450" algn="l">
              <a:spcBef>
                <a:spcPts val="400"/>
              </a:spcBef>
              <a:spcAft>
                <a:spcPts val="800"/>
              </a:spcAft>
              <a:buFont typeface="Arial"/>
              <a:buChar char="▪"/>
            </a:pPr>
            <a:r>
              <a:rPr sz="1800" b="0" i="0">
                <a:solidFill>
                  <a:srgbClr val="262626"/>
                </a:solidFill>
                <a:latin typeface="Calibri"/>
              </a:rPr>
              <a:t>Problem statement &amp; objectives</a:t>
            </a:r>
          </a:p>
          <a:p>
            <a:pPr marL="228600" indent="-171450" algn="l">
              <a:spcBef>
                <a:spcPts val="400"/>
              </a:spcBef>
              <a:spcAft>
                <a:spcPts val="800"/>
              </a:spcAft>
              <a:buFont typeface="Arial"/>
              <a:buChar char="▪"/>
            </a:pPr>
            <a:r>
              <a:rPr sz="1800" b="0" i="0">
                <a:solidFill>
                  <a:srgbClr val="262626"/>
                </a:solidFill>
                <a:latin typeface="Calibri"/>
              </a:rPr>
              <a:t>Gameplay &amp; rules</a:t>
            </a:r>
          </a:p>
          <a:p>
            <a:pPr marL="228600" indent="-171450" algn="l">
              <a:spcBef>
                <a:spcPts val="400"/>
              </a:spcBef>
              <a:spcAft>
                <a:spcPts val="800"/>
              </a:spcAft>
              <a:buFont typeface="Arial"/>
              <a:buChar char="▪"/>
            </a:pPr>
            <a:r>
              <a:rPr sz="1800" b="0" i="0">
                <a:solidFill>
                  <a:srgbClr val="262626"/>
                </a:solidFill>
                <a:latin typeface="Calibri"/>
              </a:rPr>
              <a:t>Use case analysis</a:t>
            </a:r>
          </a:p>
          <a:p>
            <a:pPr marL="228600" indent="-171450" algn="l">
              <a:spcBef>
                <a:spcPts val="400"/>
              </a:spcBef>
              <a:spcAft>
                <a:spcPts val="800"/>
              </a:spcAft>
              <a:buFont typeface="Arial"/>
              <a:buChar char="▪"/>
            </a:pPr>
            <a:r>
              <a:rPr sz="1800" b="0" i="0">
                <a:solidFill>
                  <a:srgbClr val="262626"/>
                </a:solidFill>
                <a:latin typeface="Calibri"/>
              </a:rPr>
              <a:t>System architecture (MVC)</a:t>
            </a:r>
          </a:p>
          <a:p>
            <a:pPr marL="228600" indent="-171450" algn="l">
              <a:spcBef>
                <a:spcPts val="400"/>
              </a:spcBef>
              <a:spcAft>
                <a:spcPts val="800"/>
              </a:spcAft>
              <a:buFont typeface="Arial"/>
              <a:buChar char="▪"/>
            </a:pPr>
            <a:r>
              <a:rPr sz="1800" b="0" i="0">
                <a:solidFill>
                  <a:srgbClr val="262626"/>
                </a:solidFill>
                <a:latin typeface="Calibri"/>
              </a:rPr>
              <a:t>Class design — Controller, Model, View</a:t>
            </a:r>
          </a:p>
          <a:p>
            <a:pPr marL="228600" indent="-171450" algn="l">
              <a:spcBef>
                <a:spcPts val="400"/>
              </a:spcBef>
              <a:spcAft>
                <a:spcPts val="800"/>
              </a:spcAft>
              <a:buFont typeface="Arial"/>
              <a:buChar char="▪"/>
            </a:pPr>
            <a:r>
              <a:rPr sz="1800" b="0" i="0">
                <a:solidFill>
                  <a:srgbClr val="262626"/>
                </a:solidFill>
                <a:latin typeface="Calibri"/>
              </a:rPr>
              <a:t>OOP techniques &amp; design patterns</a:t>
            </a:r>
          </a:p>
          <a:p>
            <a:pPr marL="228600" indent="-171450" algn="l">
              <a:spcBef>
                <a:spcPts val="400"/>
              </a:spcBef>
              <a:spcAft>
                <a:spcPts val="800"/>
              </a:spcAft>
              <a:buFont typeface="Arial"/>
              <a:buChar char="▪"/>
            </a:pPr>
            <a:r>
              <a:rPr sz="1800" b="0" i="0">
                <a:solidFill>
                  <a:srgbClr val="262626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Arial"/>
              </a:rPr>
              <a:t>Team &amp; Task Assignment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81328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Member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Responsibilities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Contrib.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Calibri"/>
                        </a:rPr>
                        <a:t>Nguyễn Lê Hiểu Văn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Controller package; Controller class diagram; report; slides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Calibri"/>
                        </a:rPr>
                        <a:t>Nguyễn Duy Tân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View (In-Game + Shop); General class diagram; crop logic; testing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Calibri"/>
                        </a:rPr>
                        <a:t>Nguyễn Minh Trí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Model (Player, Inventory, Game Item); exceptions; Main; class diagram; demo video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Calibri"/>
                        </a:rPr>
                        <a:t>Hồ Sỹ Hoàng Anh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View (Main Menu + Help); View class diagram; slides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Calibri"/>
                        </a:rPr>
                        <a:t>Phùng Đức Thịnh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Model (Crop, Soil, Weather, Utils); class diagram; report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Arial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7627" y="1481326"/>
            <a:ext cx="8398564" cy="4529445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latin typeface="Calibri"/>
              </a:rPr>
              <a:t>The problem</a:t>
            </a:r>
            <a:endParaRPr sz="2800" b="1" i="0" dirty="0">
              <a:solidFill>
                <a:srgbClr val="C00000"/>
              </a:solidFill>
              <a:latin typeface="Calibri"/>
            </a:endParaRPr>
          </a:p>
          <a:p>
            <a:pPr marL="228600" indent="-171450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lang="en-US" sz="2000" dirty="0"/>
              <a:t>Simulating a dynamic farming environment (crops, weather, economy) is highly complex. Without a robust architecture, the codebase quickly becomes messy, tightly coupled, and unmaintainable.</a:t>
            </a:r>
            <a:endParaRPr lang="en-US" sz="2000" b="0" i="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Calibri"/>
              </a:rPr>
              <a:t>The solution</a:t>
            </a:r>
            <a:endParaRPr sz="2400" b="1" i="0" dirty="0">
              <a:solidFill>
                <a:srgbClr val="C00000"/>
              </a:solidFill>
              <a:latin typeface="Calibri"/>
            </a:endParaRPr>
          </a:p>
          <a:p>
            <a:pPr marL="228600" indent="-171450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lang="en-US" sz="2000" dirty="0"/>
              <a:t>Apply strict </a:t>
            </a:r>
            <a:r>
              <a:rPr lang="en-US" sz="2000" b="1" dirty="0"/>
              <a:t>Object-Oriented Programming (OOP)</a:t>
            </a:r>
            <a:r>
              <a:rPr lang="en-US" sz="2000" dirty="0"/>
              <a:t> principles, Design Patterns, and the </a:t>
            </a:r>
            <a:r>
              <a:rPr lang="en-US" sz="2000" b="1" dirty="0"/>
              <a:t>MVC Architecture</a:t>
            </a:r>
            <a:r>
              <a:rPr lang="en-US" sz="2000" dirty="0"/>
              <a:t> to modularize components and decouple game logic from the user interface.</a:t>
            </a:r>
            <a:endParaRPr lang="en-US" sz="2000" b="0" i="0" dirty="0">
              <a:solidFill>
                <a:srgbClr val="262626"/>
              </a:solidFill>
              <a:latin typeface="Calibri"/>
            </a:endParaRPr>
          </a:p>
          <a:p>
            <a:pPr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C00000"/>
                </a:solidFill>
                <a:latin typeface="Calibri"/>
              </a:rPr>
              <a:t>The goal</a:t>
            </a:r>
          </a:p>
          <a:p>
            <a:pPr marL="228600" indent="-171450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lang="en-US" sz="2000" dirty="0"/>
              <a:t>Develop </a:t>
            </a:r>
            <a:r>
              <a:rPr lang="en-US" sz="2000" b="1" dirty="0"/>
              <a:t>"Smart Farm"</a:t>
            </a:r>
            <a:r>
              <a:rPr lang="en-US" sz="2000" dirty="0"/>
              <a:t>, an engaging and scalable desktop simulation game that practically demonstrates the power of clean code and robust software design.</a:t>
            </a:r>
            <a:endParaRPr lang="en-US" sz="2000" b="0" i="0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Arial"/>
              </a:rPr>
              <a:t>Gameplay &amp;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3977639" cy="46634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600" b="1" i="0" dirty="0">
                <a:solidFill>
                  <a:srgbClr val="C00000"/>
                </a:solidFill>
                <a:latin typeface="Calibri"/>
              </a:rPr>
              <a:t>Daily cycle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Start with $200.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Each day: grow crops → roll weather &amp; pests → check game-over.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Crop lifecycle: SEED → SEEDLING → MATURE → HARVEST (else ROTTEN / DEAD).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 dirty="0">
                <a:solidFill>
                  <a:srgbClr val="262626"/>
                </a:solidFill>
                <a:latin typeface="Calibri"/>
              </a:rPr>
              <a:t>Lose by bankruptcy; there is no win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1481328"/>
            <a:ext cx="4069080" cy="46634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Calibri"/>
              </a:rPr>
              <a:t>Game elements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5 crops: Corn, Potato, Sunflower, Tomato, Water Rice.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5 tools: Hoe, Watering Can, Seed Bag, Fertilizer Bag, Hand.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3 weather types: Sunny, Rainy, Drought.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Beetle pest raises crop stress.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400" b="0" i="0">
                <a:solidFill>
                  <a:srgbClr val="262626"/>
                </a:solidFill>
                <a:latin typeface="Calibri"/>
              </a:rPr>
              <a:t>Shop to buy seeds / fertilizer and sell ripe crops.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185F4-11A2-8EE7-E24A-9DA1742F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3800-D4A7-14F6-4C2F-E2F065C80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7" y="1423289"/>
            <a:ext cx="8395955" cy="4351338"/>
          </a:xfrm>
        </p:spPr>
        <p:txBody>
          <a:bodyPr/>
          <a:lstStyle/>
          <a:p>
            <a:pPr marL="0" indent="0" algn="ctr">
              <a:buNone/>
            </a:pPr>
            <a:endParaRPr lang="en-US" sz="54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54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5400" dirty="0">
                <a:solidFill>
                  <a:srgbClr val="FF0000"/>
                </a:solidFill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539039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40011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 dirty="0">
                <a:solidFill>
                  <a:srgbClr val="C00000"/>
                </a:solidFill>
                <a:latin typeface="Arial"/>
              </a:rPr>
              <a:t>Use Case </a:t>
            </a:r>
            <a:r>
              <a:rPr lang="en-US" sz="2600" b="1" i="0" dirty="0">
                <a:solidFill>
                  <a:srgbClr val="C00000"/>
                </a:solidFill>
                <a:latin typeface="Arial"/>
              </a:rPr>
              <a:t>Diagram</a:t>
            </a:r>
            <a:endParaRPr sz="2600" b="1" i="0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696712"/>
            <a:ext cx="82296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100" b="0" i="1" dirty="0">
                <a:solidFill>
                  <a:srgbClr val="595959"/>
                </a:solidFill>
                <a:latin typeface="Calibri"/>
              </a:rPr>
              <a:t>Two actors — Player (menu, crop care, inventory) and Time (weather, pests, random events).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E588CD-68EF-DD6D-DEBF-195C7A38D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28" y="1190445"/>
            <a:ext cx="7813543" cy="4954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C7BDC2-771D-ACCC-427F-31A66476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2C8B0F-E4AC-22E4-6BCB-9C6FC0DC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CLASS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52603-BC4A-3331-86A1-AE978B41E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6" y="1177581"/>
            <a:ext cx="6840748" cy="488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09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783D34-B117-35AA-839B-A2DD05BA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CCB644-B336-1BDB-7001-FA514AA7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: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9D7285-DAC2-080B-5307-3035D1D17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59" y="1179375"/>
            <a:ext cx="8719523" cy="500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7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CDE9DC-F3CA-CF45-1A32-177D36CFD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D78625-5B0A-B5FC-7394-EF4B9D06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: util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E25BD2-956F-9BF6-E946-A59828F37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77" y="1257301"/>
            <a:ext cx="7598465" cy="49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0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3A80A6-F0CF-753F-AEC7-FAAA1F4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4F5099-899B-4AA7-9A7C-449F2160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: exception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5E4EE-C49F-6177-F716-2C777BACA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08" y="1187727"/>
            <a:ext cx="7742584" cy="512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84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FE679F-0D55-8AF7-D963-948685B2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2BEA86-6017-3F25-28FE-CB8D6442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: controller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C315B-8CE2-6C8B-A278-4498A055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" y="1242570"/>
            <a:ext cx="8960126" cy="487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64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AE8A8-8822-E4D5-ABC3-2318CC1B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E056A8-163B-F844-13D8-D6C24568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: 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C169C-0FFD-1E0C-100A-DD3435982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" y="1316935"/>
            <a:ext cx="8984974" cy="483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0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E142C6-BE7E-4202-3F2E-BE7C0A5E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DBC2-18BA-1E20-D798-DC741708CE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8207668" cy="4351338"/>
          </a:xfrm>
        </p:spPr>
        <p:txBody>
          <a:bodyPr/>
          <a:lstStyle/>
          <a:p>
            <a:pPr marL="0" indent="0" algn="ctr">
              <a:buNone/>
            </a:pPr>
            <a:endParaRPr lang="en-US" sz="44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44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5400" dirty="0">
                <a:solidFill>
                  <a:srgbClr val="FF0000"/>
                </a:solidFill>
              </a:rPr>
              <a:t>OOP TECHNIQUES</a:t>
            </a:r>
          </a:p>
        </p:txBody>
      </p:sp>
    </p:spTree>
    <p:extLst>
      <p:ext uri="{BB962C8B-B14F-4D97-AF65-F5344CB8AC3E}">
        <p14:creationId xmlns:p14="http://schemas.microsoft.com/office/powerpoint/2010/main" val="533850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CA9C8A-7D46-4D51-32A6-A82C54E3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A25E4-8C7B-35A2-DC5E-D3FD7B805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799" y="1328738"/>
            <a:ext cx="8604123" cy="4791075"/>
          </a:xfrm>
        </p:spPr>
        <p:txBody>
          <a:bodyPr/>
          <a:lstStyle/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The use of abstract classes in crop simulation </a:t>
            </a:r>
          </a:p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Developers only need to work with common crop methods (like </a:t>
            </a:r>
            <a:r>
              <a:rPr lang="en-US" sz="1600" b="1" dirty="0" err="1"/>
              <a:t>dailyUpdate</a:t>
            </a:r>
            <a:r>
              <a:rPr lang="en-US" sz="1600" dirty="0"/>
              <a:t>) without concerning implementation details of specific crop types.</a:t>
            </a:r>
            <a:endParaRPr lang="en-US" sz="16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8BEC19-9FEF-9763-4BB4-C651E4D9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BD956D-B1AC-BDAA-CA97-64D30858A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3548063"/>
            <a:ext cx="57531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38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5E90AD-266E-F154-625F-E5EC7DA1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15746-ACAF-B046-A0CB-2590A24EE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725" y="1423288"/>
            <a:ext cx="8320088" cy="4634611"/>
          </a:xfrm>
        </p:spPr>
        <p:txBody>
          <a:bodyPr/>
          <a:lstStyle/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The use of inheritance to share common attributes across different game items </a:t>
            </a:r>
          </a:p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Subclasses automatically inherit base properties (name, price) from the parent class, reducing code duplication while adding their own specific logic.</a:t>
            </a:r>
          </a:p>
          <a:p>
            <a:pPr marL="0" indent="0">
              <a:lnSpc>
                <a:spcPts val="4759"/>
              </a:lnSpc>
              <a:buNone/>
            </a:pPr>
            <a:endParaRPr lang="en-US" sz="16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F8AAC6-D073-57DF-6D66-59B9348B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C3983-F9E1-796B-00C2-61E62CE25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35" y="3429000"/>
            <a:ext cx="8183140" cy="250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00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ACF26A-2603-DBA9-C7BD-95393BD8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E3EF3-2D7A-AA08-9693-E09DB77E2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6237" y="1423289"/>
            <a:ext cx="8472487" cy="4563174"/>
          </a:xfrm>
        </p:spPr>
        <p:txBody>
          <a:bodyPr/>
          <a:lstStyle/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The use of private fields to hide internal state of the soil cell</a:t>
            </a:r>
          </a:p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State can only be modified through controlled public methods (like </a:t>
            </a:r>
            <a:r>
              <a:rPr lang="en-US" sz="1600" b="1" dirty="0" err="1"/>
              <a:t>updateMoistureAmount</a:t>
            </a:r>
            <a:r>
              <a:rPr lang="en-US" sz="1600" dirty="0"/>
              <a:t>) which enforce validation rules and prevent invalid values.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360BAA-4443-A8B6-BD0C-161D5555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2208076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14A830-7CE0-4271-1C0D-2385B399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938EA-B5C4-6F8F-3E5C-995659801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375" y="1423289"/>
            <a:ext cx="8575548" cy="4563174"/>
          </a:xfrm>
        </p:spPr>
        <p:txBody>
          <a:bodyPr/>
          <a:lstStyle/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The use of interfaces to allow interchangeable behaviors at runtime</a:t>
            </a:r>
          </a:p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The player controller can execute any tool uniformly via the </a:t>
            </a:r>
            <a:r>
              <a:rPr lang="en-US" sz="1600" b="1" dirty="0" err="1"/>
              <a:t>executeOnTarget</a:t>
            </a:r>
            <a:r>
              <a:rPr lang="en-US" sz="1600" b="1" dirty="0"/>
              <a:t>() </a:t>
            </a:r>
            <a:r>
              <a:rPr lang="en-US" sz="1600" dirty="0"/>
              <a:t>method without needing to check the specific tool type using IF-ELSE statements.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42C8D7-B64F-86A8-92D0-3DD49C53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 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3D57D-B0FB-D296-E6E0-1438DAC64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4201"/>
            <a:ext cx="9144000" cy="22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83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5A3FB8-A80D-2828-001C-3DEEA80E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D8D8C-4E87-74D3-2816-A670D8A72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5077" y="1385888"/>
            <a:ext cx="8689706" cy="4591049"/>
          </a:xfrm>
        </p:spPr>
        <p:txBody>
          <a:bodyPr/>
          <a:lstStyle/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Represents a general "uses-a" or "knows-a" relationship between independent objects.</a:t>
            </a:r>
          </a:p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b="1" dirty="0"/>
              <a:t>Strongest Application:</a:t>
            </a:r>
            <a:r>
              <a:rPr lang="en-US" sz="1600" dirty="0"/>
              <a:t> Between View Controllers (e.g., </a:t>
            </a:r>
            <a:r>
              <a:rPr lang="en-US" sz="1600" b="1" dirty="0" err="1"/>
              <a:t>ShopViewController</a:t>
            </a:r>
            <a:r>
              <a:rPr lang="en-US" sz="1600" dirty="0"/>
              <a:t>) and </a:t>
            </a:r>
            <a:r>
              <a:rPr lang="en-US" sz="1600" b="1" dirty="0" err="1"/>
              <a:t>SceneRouter</a:t>
            </a:r>
            <a:r>
              <a:rPr lang="en-US" sz="1600" dirty="0"/>
              <a:t>. Controllers use the router to navigate between screens, but both exist independently.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A3E85D-160E-2F9D-BF7E-4731F2B3B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</a:t>
            </a:r>
          </a:p>
        </p:txBody>
      </p:sp>
    </p:spTree>
    <p:extLst>
      <p:ext uri="{BB962C8B-B14F-4D97-AF65-F5344CB8AC3E}">
        <p14:creationId xmlns:p14="http://schemas.microsoft.com/office/powerpoint/2010/main" val="3421181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1B8153-8B81-F9CA-4F12-8FE2E874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96495-E154-DE79-DC9A-241680066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375" y="1423288"/>
            <a:ext cx="8534400" cy="4553649"/>
          </a:xfrm>
        </p:spPr>
        <p:txBody>
          <a:bodyPr/>
          <a:lstStyle/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Represents a "has-a" relationship where the child object can exist independently of the parent.</a:t>
            </a:r>
          </a:p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b="1" dirty="0"/>
              <a:t>Strongest Application:</a:t>
            </a:r>
            <a:r>
              <a:rPr lang="en-US" sz="1600" dirty="0"/>
              <a:t> Between Cell (soil) and Crop. A cell holds a crop, but when harvested, the crop is removed from the cell and continues to exist (to be sold or stored).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C3E924-EEFC-CDE2-186D-E91CBEA3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</a:t>
            </a:r>
          </a:p>
        </p:txBody>
      </p:sp>
    </p:spTree>
    <p:extLst>
      <p:ext uri="{BB962C8B-B14F-4D97-AF65-F5344CB8AC3E}">
        <p14:creationId xmlns:p14="http://schemas.microsoft.com/office/powerpoint/2010/main" val="2091217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281C33-8F01-AEDA-EC5C-503BA121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006B9-1182-6733-E544-7CE251AAF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3388" y="1423288"/>
            <a:ext cx="8348662" cy="4501261"/>
          </a:xfrm>
        </p:spPr>
        <p:txBody>
          <a:bodyPr/>
          <a:lstStyle/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dirty="0"/>
              <a:t>Represents a strict "part-of" relationship where the child object's lifecycle is tightly bound to the parent.</a:t>
            </a:r>
          </a:p>
          <a:p>
            <a:pPr marL="0" indent="-396321">
              <a:lnSpc>
                <a:spcPts val="4759"/>
              </a:lnSpc>
              <a:buFont typeface="Arial"/>
              <a:buChar char="⚬"/>
            </a:pPr>
            <a:r>
              <a:rPr lang="en-US" sz="1600" b="1" dirty="0"/>
              <a:t>Strongest Application:</a:t>
            </a:r>
            <a:r>
              <a:rPr lang="en-US" sz="1600" dirty="0"/>
              <a:t> Between </a:t>
            </a:r>
            <a:r>
              <a:rPr lang="en-US" sz="1600" b="1" dirty="0" err="1"/>
              <a:t>FarmMap</a:t>
            </a:r>
            <a:r>
              <a:rPr lang="en-US" sz="1600" dirty="0"/>
              <a:t> and </a:t>
            </a:r>
            <a:r>
              <a:rPr lang="en-US" sz="1600" b="1" dirty="0"/>
              <a:t>Cell</a:t>
            </a:r>
            <a:r>
              <a:rPr lang="en-US" sz="1600" dirty="0"/>
              <a:t>. The map generates and owns the 2D grid of soil cells. If the farm map is destroyed, its cells cease to exist.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2CFCBC-22B2-4632-9B04-10DB0377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40C738-A6FA-ADCA-BC2B-120F66261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37" y="4181475"/>
            <a:ext cx="31527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18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1A4DA7-D46B-3A9C-D558-6FE283A6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A22E8-64F9-14D6-3CD2-B1E48FF9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325" y="1238250"/>
            <a:ext cx="8482013" cy="4929188"/>
          </a:xfrm>
        </p:spPr>
        <p:txBody>
          <a:bodyPr/>
          <a:lstStyle/>
          <a:p>
            <a:pPr marL="0" indent="0">
              <a:buNone/>
            </a:pPr>
            <a:r>
              <a:rPr lang="en-US" sz="5400" b="1" dirty="0">
                <a:solidFill>
                  <a:srgbClr val="FF0000"/>
                </a:solidFill>
              </a:rPr>
              <a:t>Notable Logic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OBSERVER-DRIVEN DAILY SIMULATION</a:t>
            </a:r>
            <a:endParaRPr lang="en-US" dirty="0"/>
          </a:p>
          <a:p>
            <a:r>
              <a:rPr lang="en-US" b="1" dirty="0"/>
              <a:t>DYNAMIC CROP LIFECYCLE &amp; STRESS</a:t>
            </a:r>
            <a:endParaRPr lang="en-US" dirty="0"/>
          </a:p>
          <a:p>
            <a:r>
              <a:rPr lang="en-US" b="1" dirty="0"/>
              <a:t>DECOUPLED SCENE ROUTING</a:t>
            </a:r>
            <a:endParaRPr lang="en-US" dirty="0"/>
          </a:p>
          <a:p>
            <a:pPr marL="0" indent="0">
              <a:buNone/>
            </a:pP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734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919F3-0C35-21BD-9F97-1DF00AFAC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E2FC5-0EE9-676B-BD93-6DCFE0145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7188" y="1423289"/>
            <a:ext cx="8501062" cy="462032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Observer-Driven Daily Simulation </a:t>
            </a:r>
            <a:r>
              <a:rPr lang="en-US" sz="1600" b="1" dirty="0"/>
              <a:t>Text:</a:t>
            </a:r>
            <a:r>
              <a:rPr lang="en-US" sz="1600" dirty="0"/>
              <a:t> The daily simulation relies on the Observer Pattern to completely decouple the core time-keeping logic from the environment generation and crop updates. </a:t>
            </a:r>
            <a:r>
              <a:rPr lang="en-US" sz="1600" dirty="0" err="1"/>
              <a:t>GameManager</a:t>
            </a:r>
            <a:r>
              <a:rPr lang="en-US" sz="1600" dirty="0"/>
              <a:t> acts as the Subject, notifying all subscribed components seamlessly.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C76AE3-4534-E6AC-EEC4-5A250646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OBSERVER-DRIVEN DAILY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DFFB7D-44A1-1D59-437C-71DB8675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4" y="2481263"/>
            <a:ext cx="5772151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67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4802AD-58C6-FAB9-10F8-D11BE96A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B4655-71A7-DA3F-5196-FF8FB74F4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0513" y="1423289"/>
            <a:ext cx="8618410" cy="46774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Main trigger : </a:t>
            </a:r>
            <a:r>
              <a:rPr lang="en-US" sz="1600" b="1" dirty="0" err="1"/>
              <a:t>GameManager.advanceDay</a:t>
            </a:r>
            <a:r>
              <a:rPr lang="en-US" sz="1600" b="1" dirty="0"/>
              <a:t>()</a:t>
            </a:r>
          </a:p>
          <a:p>
            <a:pPr marL="0" indent="0">
              <a:buNone/>
            </a:pPr>
            <a:r>
              <a:rPr lang="en-US" sz="2400" b="1" dirty="0"/>
              <a:t>		</a:t>
            </a:r>
            <a:r>
              <a:rPr lang="en-US" sz="2400" b="1" dirty="0" err="1"/>
              <a:t>GameManager.advanceDay</a:t>
            </a:r>
            <a:r>
              <a:rPr lang="en-US" sz="2400" b="1" dirty="0"/>
              <a:t>()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CF9310-AC7E-DE20-EF74-382ECD2C9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OBSERVER-DRIVEN DAILY SIMULATION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618D8DA-00A2-1317-EB00-C634A2779E91}"/>
              </a:ext>
            </a:extLst>
          </p:cNvPr>
          <p:cNvSpPr/>
          <p:nvPr/>
        </p:nvSpPr>
        <p:spPr>
          <a:xfrm rot="-1848903">
            <a:off x="1398334" y="2511105"/>
            <a:ext cx="2063160" cy="654366"/>
          </a:xfrm>
          <a:custGeom>
            <a:avLst/>
            <a:gdLst/>
            <a:ahLst/>
            <a:cxnLst/>
            <a:rect l="l" t="t" r="r" b="b"/>
            <a:pathLst>
              <a:path w="2973649" h="886688">
                <a:moveTo>
                  <a:pt x="0" y="0"/>
                </a:moveTo>
                <a:lnTo>
                  <a:pt x="2973649" y="0"/>
                </a:lnTo>
                <a:lnTo>
                  <a:pt x="2973649" y="886688"/>
                </a:lnTo>
                <a:lnTo>
                  <a:pt x="0" y="886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12180E6C-14CA-8808-66BC-9A9A3C9B14E5}"/>
              </a:ext>
            </a:extLst>
          </p:cNvPr>
          <p:cNvSpPr/>
          <p:nvPr/>
        </p:nvSpPr>
        <p:spPr>
          <a:xfrm rot="-9081232">
            <a:off x="4906494" y="2485799"/>
            <a:ext cx="2086346" cy="704979"/>
          </a:xfrm>
          <a:custGeom>
            <a:avLst/>
            <a:gdLst/>
            <a:ahLst/>
            <a:cxnLst/>
            <a:rect l="l" t="t" r="r" b="b"/>
            <a:pathLst>
              <a:path w="2973649" h="886688">
                <a:moveTo>
                  <a:pt x="0" y="0"/>
                </a:moveTo>
                <a:lnTo>
                  <a:pt x="2973649" y="0"/>
                </a:lnTo>
                <a:lnTo>
                  <a:pt x="2973649" y="886688"/>
                </a:lnTo>
                <a:lnTo>
                  <a:pt x="0" y="886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BCB459-F841-C325-83D5-E87FA4358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3600450"/>
            <a:ext cx="4148138" cy="2219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44325F-51C7-B499-E341-6FD432E2B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934" y="3552826"/>
            <a:ext cx="4238601" cy="230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27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8FB13E-7826-5E96-0F0B-F4929491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DDDC6-C59D-B1E1-2FAE-BF73E519B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077" y="1423288"/>
            <a:ext cx="8673846" cy="453936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Crop Lifecycle &amp; Stress </a:t>
            </a:r>
            <a:r>
              <a:rPr lang="en-US" sz="1600" b="1" dirty="0"/>
              <a:t>Text:</a:t>
            </a:r>
            <a:r>
              <a:rPr lang="en-US" sz="1600" dirty="0"/>
              <a:t> The crop logic heavily utilizes the </a:t>
            </a:r>
            <a:r>
              <a:rPr lang="en-US" sz="1600" b="1" dirty="0"/>
              <a:t>Strategy Pattern</a:t>
            </a:r>
            <a:r>
              <a:rPr lang="en-US" sz="1600" dirty="0"/>
              <a:t>. By injecting different </a:t>
            </a:r>
            <a:r>
              <a:rPr lang="en-US" sz="1600" dirty="0" err="1"/>
              <a:t>GrowthManager</a:t>
            </a:r>
            <a:r>
              <a:rPr lang="en-US" sz="1600" dirty="0"/>
              <a:t> or </a:t>
            </a:r>
            <a:r>
              <a:rPr lang="en-US" sz="1600" dirty="0" err="1"/>
              <a:t>StressManager</a:t>
            </a:r>
            <a:r>
              <a:rPr lang="en-US" sz="1600" dirty="0"/>
              <a:t> implementations (e.g., </a:t>
            </a:r>
            <a:r>
              <a:rPr lang="en-US" sz="1600" dirty="0" err="1"/>
              <a:t>SunLoving</a:t>
            </a:r>
            <a:r>
              <a:rPr lang="en-US" sz="1600" dirty="0"/>
              <a:t> vs </a:t>
            </a:r>
            <a:r>
              <a:rPr lang="en-US" sz="1600" dirty="0" err="1"/>
              <a:t>FloodLoving</a:t>
            </a:r>
            <a:r>
              <a:rPr lang="en-US" sz="1600" dirty="0"/>
              <a:t>), each crop species reacts completely differently to the exact same weather conditions without altering the core Crop class.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F072E6-BACC-5137-9104-EC201D92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CROP LIFECYCLE &amp; STRESS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B16AF3-AD34-A948-0775-86E33454D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790" y="2496163"/>
            <a:ext cx="5262420" cy="367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73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412ADC-035E-B22C-0F67-7369B88C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C7597-6B5C-AD56-8A27-DBE82C3A8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423288"/>
            <a:ext cx="8529637" cy="465366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Main trigger: </a:t>
            </a:r>
            <a:r>
              <a:rPr lang="en-US" sz="1600" b="1" dirty="0" err="1"/>
              <a:t>Crop.dailyUpdate</a:t>
            </a:r>
            <a:r>
              <a:rPr lang="en-US" sz="1600" b="1" dirty="0"/>
              <a:t>(Cell, Weather)</a:t>
            </a:r>
          </a:p>
          <a:p>
            <a:pPr marL="0" indent="0">
              <a:buNone/>
            </a:pPr>
            <a:r>
              <a:rPr lang="en-US" sz="2400" b="1" dirty="0"/>
              <a:t>		</a:t>
            </a:r>
            <a:r>
              <a:rPr lang="en-US" sz="2400" b="1" dirty="0" err="1"/>
              <a:t>Crop.dailyUpdate</a:t>
            </a:r>
            <a:r>
              <a:rPr lang="en-US" sz="2400" b="1" dirty="0"/>
              <a:t>(Cell, Weather)</a:t>
            </a:r>
          </a:p>
          <a:p>
            <a:pPr marL="0" indent="0">
              <a:buNone/>
            </a:pPr>
            <a:endParaRPr lang="en-US" sz="16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814347-A922-CAB4-D344-14553965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CROP LIFECYCLE &amp; STRESS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FD958F4-125A-F06B-C5E0-6B7A7C034EAD}"/>
              </a:ext>
            </a:extLst>
          </p:cNvPr>
          <p:cNvSpPr/>
          <p:nvPr/>
        </p:nvSpPr>
        <p:spPr>
          <a:xfrm rot="-1848903">
            <a:off x="1565021" y="2511105"/>
            <a:ext cx="2063160" cy="654366"/>
          </a:xfrm>
          <a:custGeom>
            <a:avLst/>
            <a:gdLst/>
            <a:ahLst/>
            <a:cxnLst/>
            <a:rect l="l" t="t" r="r" b="b"/>
            <a:pathLst>
              <a:path w="2973649" h="886688">
                <a:moveTo>
                  <a:pt x="0" y="0"/>
                </a:moveTo>
                <a:lnTo>
                  <a:pt x="2973649" y="0"/>
                </a:lnTo>
                <a:lnTo>
                  <a:pt x="2973649" y="886688"/>
                </a:lnTo>
                <a:lnTo>
                  <a:pt x="0" y="886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3371571-86FB-82C4-47DE-9AF471F6229B}"/>
              </a:ext>
            </a:extLst>
          </p:cNvPr>
          <p:cNvSpPr/>
          <p:nvPr/>
        </p:nvSpPr>
        <p:spPr>
          <a:xfrm rot="-9081232">
            <a:off x="5127684" y="2438171"/>
            <a:ext cx="2086346" cy="704979"/>
          </a:xfrm>
          <a:custGeom>
            <a:avLst/>
            <a:gdLst/>
            <a:ahLst/>
            <a:cxnLst/>
            <a:rect l="l" t="t" r="r" b="b"/>
            <a:pathLst>
              <a:path w="2973649" h="886688">
                <a:moveTo>
                  <a:pt x="0" y="0"/>
                </a:moveTo>
                <a:lnTo>
                  <a:pt x="2973649" y="0"/>
                </a:lnTo>
                <a:lnTo>
                  <a:pt x="2973649" y="886688"/>
                </a:lnTo>
                <a:lnTo>
                  <a:pt x="0" y="886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23E771-F0C4-A4CA-A526-588DE9E0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8" y="3603688"/>
            <a:ext cx="4227887" cy="2054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F3270-23BE-48C5-D45F-DE4CFFFB3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589" y="3603688"/>
            <a:ext cx="4227887" cy="205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56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74184-FD04-9AC3-418E-2DEBC955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71EFC-D5DE-13F8-D466-6A21698A1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9575" y="1423288"/>
            <a:ext cx="8499348" cy="478701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Decoupled Scene Routing </a:t>
            </a:r>
            <a:r>
              <a:rPr lang="en-US" sz="1600" b="1" dirty="0"/>
              <a:t>Text:</a:t>
            </a:r>
            <a:r>
              <a:rPr lang="en-US" sz="1600" dirty="0"/>
              <a:t> The routing logic ensures total decoupling between View Controllers. Instead of controllers instantiating each other and creating a "spaghetti" web of dependencies, all screens are registered centrally. Controllers only communicate with the </a:t>
            </a:r>
            <a:r>
              <a:rPr lang="en-US" sz="1600" dirty="0" err="1"/>
              <a:t>SceneRouter</a:t>
            </a:r>
            <a:r>
              <a:rPr lang="en-US" sz="1600" dirty="0"/>
              <a:t> using simple String constants (Screens.java).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CAF1FE-8112-EC02-EDEE-76443362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DECOUPLED SCENE ROUTING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C0C8F7-6171-6FF1-8F1E-49CF39C24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4" y="2488707"/>
            <a:ext cx="5819775" cy="360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3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Arial"/>
              </a:rPr>
              <a:t>System Architecture — MVC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8229600" cy="341632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800" b="1" i="0" dirty="0">
                <a:solidFill>
                  <a:srgbClr val="C00000"/>
                </a:solidFill>
                <a:latin typeface="Calibri"/>
              </a:rPr>
              <a:t>View</a:t>
            </a:r>
          </a:p>
          <a:p>
            <a:pPr marL="228600" indent="-171450" algn="l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JavaFX FXML screens, CSS and PNG assets. Reads model state and calls controller methods.</a:t>
            </a:r>
          </a:p>
          <a:p>
            <a:pPr algn="l">
              <a:spcBef>
                <a:spcPts val="1000"/>
              </a:spcBef>
              <a:spcAft>
                <a:spcPts val="100"/>
              </a:spcAft>
              <a:buNone/>
            </a:pPr>
            <a:r>
              <a:rPr sz="1800" b="1" i="0" dirty="0">
                <a:solidFill>
                  <a:srgbClr val="C00000"/>
                </a:solidFill>
                <a:latin typeface="Calibri"/>
              </a:rPr>
              <a:t>Controller</a:t>
            </a:r>
          </a:p>
          <a:p>
            <a:pPr marL="228600" indent="-171450" algn="l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Game logic: the day lifecycle, tools, shop, environment and the game-over check.</a:t>
            </a:r>
          </a:p>
          <a:p>
            <a:pPr algn="l">
              <a:spcBef>
                <a:spcPts val="1000"/>
              </a:spcBef>
              <a:spcAft>
                <a:spcPts val="100"/>
              </a:spcAft>
              <a:buNone/>
            </a:pPr>
            <a:r>
              <a:rPr sz="1800" b="1" i="0" dirty="0">
                <a:solidFill>
                  <a:srgbClr val="C00000"/>
                </a:solidFill>
                <a:latin typeface="Calibri"/>
              </a:rPr>
              <a:t>Model</a:t>
            </a:r>
          </a:p>
          <a:p>
            <a:pPr marL="228600" indent="-171450" algn="l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Pure domain — crop, soil, weather, player, inventory and game items (no GUI imports).</a:t>
            </a:r>
          </a:p>
          <a:p>
            <a:pPr algn="l">
              <a:spcBef>
                <a:spcPts val="1200"/>
              </a:spcBef>
              <a:spcAft>
                <a:spcPts val="100"/>
              </a:spcAft>
              <a:buNone/>
            </a:pPr>
            <a:r>
              <a:rPr sz="1800" b="1" i="0" dirty="0">
                <a:solidFill>
                  <a:srgbClr val="C00000"/>
                </a:solidFill>
                <a:latin typeface="Calibri"/>
              </a:rPr>
              <a:t>Flow</a:t>
            </a:r>
          </a:p>
          <a:p>
            <a:pPr marL="228600" indent="-171450" algn="l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View  →  Controller  →  Model;  the day event flows back to all controllers via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DayObserver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228600" indent="-171450" algn="l">
              <a:spcBef>
                <a:spcPts val="400"/>
              </a:spcBef>
              <a:spcAft>
                <a:spcPts val="400"/>
              </a:spcAft>
              <a:buFont typeface="Arial"/>
              <a:buChar char="▪"/>
            </a:pPr>
            <a:r>
              <a:rPr sz="1500" b="0" i="0" dirty="0">
                <a:solidFill>
                  <a:srgbClr val="262626"/>
                </a:solidFill>
                <a:latin typeface="Calibri"/>
              </a:rPr>
              <a:t>Dependency Inversion: Main is the single composition root; screens depend on the </a:t>
            </a:r>
            <a:r>
              <a:rPr sz="1500" b="0" i="0" dirty="0" err="1">
                <a:solidFill>
                  <a:srgbClr val="262626"/>
                </a:solidFill>
                <a:latin typeface="Calibri"/>
              </a:rPr>
              <a:t>GameLauncher</a:t>
            </a:r>
            <a:r>
              <a:rPr sz="1500" b="0" i="0" dirty="0">
                <a:solidFill>
                  <a:srgbClr val="262626"/>
                </a:solidFill>
                <a:latin typeface="Calibri"/>
              </a:rPr>
              <a:t> interface, not on Main.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Arial"/>
              </a:rPr>
              <a:t>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8229600" cy="47091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marL="228600" indent="-171450" algn="l">
              <a:spcAft>
                <a:spcPts val="700"/>
              </a:spcAft>
              <a:buFont typeface="Arial"/>
              <a:buChar char="▪"/>
            </a:pPr>
            <a:r>
              <a:rPr sz="1500" b="1">
                <a:solidFill>
                  <a:srgbClr val="C00000"/>
                </a:solidFill>
                <a:latin typeface="Calibri"/>
              </a:rPr>
              <a:t>Singleton — </a:t>
            </a:r>
            <a:r>
              <a:rPr sz="1500">
                <a:solidFill>
                  <a:srgbClr val="262626"/>
                </a:solidFill>
                <a:latin typeface="Calibri"/>
              </a:rPr>
              <a:t>GameManager (initialization-on-demand Holder).</a:t>
            </a:r>
          </a:p>
          <a:p>
            <a:pPr marL="228600" indent="-171450" algn="l">
              <a:spcAft>
                <a:spcPts val="700"/>
              </a:spcAft>
              <a:buFont typeface="Arial"/>
              <a:buChar char="▪"/>
            </a:pPr>
            <a:r>
              <a:rPr sz="1500" b="1">
                <a:solidFill>
                  <a:srgbClr val="C00000"/>
                </a:solidFill>
                <a:latin typeface="Calibri"/>
              </a:rPr>
              <a:t>Observer — </a:t>
            </a:r>
            <a:r>
              <a:rPr sz="1500">
                <a:solidFill>
                  <a:srgbClr val="262626"/>
                </a:solidFill>
                <a:latin typeface="Calibri"/>
              </a:rPr>
              <a:t>DayObserver (day lifecycle) and GameOverListener (end-of-run callback).</a:t>
            </a:r>
          </a:p>
          <a:p>
            <a:pPr marL="228600" indent="-171450" algn="l">
              <a:spcAft>
                <a:spcPts val="700"/>
              </a:spcAft>
              <a:buFont typeface="Arial"/>
              <a:buChar char="▪"/>
            </a:pPr>
            <a:r>
              <a:rPr sz="1500" b="1">
                <a:solidFill>
                  <a:srgbClr val="C00000"/>
                </a:solidFill>
                <a:latin typeface="Calibri"/>
              </a:rPr>
              <a:t>Strategy — </a:t>
            </a:r>
            <a:r>
              <a:rPr sz="1500">
                <a:solidFill>
                  <a:srgbClr val="262626"/>
                </a:solidFill>
                <a:latin typeface="Calibri"/>
              </a:rPr>
              <a:t>ToolStrategy, the growth / stress / state managers, and GameOverCondition.</a:t>
            </a:r>
          </a:p>
          <a:p>
            <a:pPr marL="228600" indent="-171450" algn="l">
              <a:spcAft>
                <a:spcPts val="700"/>
              </a:spcAft>
              <a:buFont typeface="Arial"/>
              <a:buChar char="▪"/>
            </a:pPr>
            <a:r>
              <a:rPr sz="1500" b="1">
                <a:solidFill>
                  <a:srgbClr val="C00000"/>
                </a:solidFill>
                <a:latin typeface="Calibri"/>
              </a:rPr>
              <a:t>Factory — </a:t>
            </a:r>
            <a:r>
              <a:rPr sz="1500">
                <a:solidFill>
                  <a:srgbClr val="262626"/>
                </a:solidFill>
                <a:latin typeface="Calibri"/>
              </a:rPr>
              <a:t>Supplier&lt;Seed&gt; / Supplier&lt;Fertilizer&gt; inside SeedItem / FertilizerItem.</a:t>
            </a:r>
          </a:p>
          <a:p>
            <a:pPr marL="228600" indent="-171450" algn="l">
              <a:spcAft>
                <a:spcPts val="700"/>
              </a:spcAft>
              <a:buFont typeface="Arial"/>
              <a:buChar char="▪"/>
            </a:pPr>
            <a:r>
              <a:rPr sz="1500" b="1">
                <a:solidFill>
                  <a:srgbClr val="C00000"/>
                </a:solidFill>
                <a:latin typeface="Calibri"/>
              </a:rPr>
              <a:t>State — </a:t>
            </a:r>
            <a:r>
              <a:rPr sz="1500">
                <a:solidFill>
                  <a:srgbClr val="262626"/>
                </a:solidFill>
                <a:latin typeface="Calibri"/>
              </a:rPr>
              <a:t>GrowthState (crop lifecycle) and CellState (soil tilled / untilled).</a:t>
            </a:r>
          </a:p>
          <a:p>
            <a:pPr marL="228600" indent="-171450" algn="l">
              <a:spcAft>
                <a:spcPts val="700"/>
              </a:spcAft>
              <a:buFont typeface="Arial"/>
              <a:buChar char="▪"/>
            </a:pPr>
            <a:r>
              <a:rPr sz="1500" b="1">
                <a:solidFill>
                  <a:srgbClr val="C00000"/>
                </a:solidFill>
                <a:latin typeface="Calibri"/>
              </a:rPr>
              <a:t>Dependency Inversion — </a:t>
            </a:r>
            <a:r>
              <a:rPr sz="1500">
                <a:solidFill>
                  <a:srgbClr val="262626"/>
                </a:solidFill>
                <a:latin typeface="Calibri"/>
              </a:rPr>
              <a:t>Main implements GameLauncher; layers depend on interfaces.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Arial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81328"/>
            <a:ext cx="8229600" cy="47091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Calibri"/>
              </a:rPr>
              <a:t>Scenario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Till a cell → buy &amp; plant a seed → water and fertilize.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Advance days → react to weather and the Beetle pest.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Harvest at the HARVEST stage → sell for profit.</a:t>
            </a:r>
          </a:p>
          <a:p>
            <a:pPr marL="228600" indent="-171450" algn="l">
              <a:spcBef>
                <a:spcPts val="400"/>
              </a:spcBef>
              <a:spcAft>
                <a:spcPts val="500"/>
              </a:spcAft>
              <a:buFont typeface="Arial"/>
              <a:buChar char="▪"/>
            </a:pPr>
            <a:r>
              <a:rPr sz="1500" b="0" i="0">
                <a:solidFill>
                  <a:srgbClr val="262626"/>
                </a:solidFill>
                <a:latin typeface="Calibri"/>
              </a:rPr>
              <a:t>If money, seeds and crops all run out → Game Over (bankruptcy).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Calibri"/>
              </a:rPr>
              <a:t>Video</a:t>
            </a:r>
          </a:p>
          <a:p>
            <a:pPr>
              <a:spcAft>
                <a:spcPts val="200"/>
              </a:spcAft>
              <a:buNone/>
            </a:pPr>
            <a:r>
              <a:rPr sz="1500">
                <a:solidFill>
                  <a:srgbClr val="1A0DAB"/>
                </a:solidFill>
                <a:latin typeface="Calibri"/>
                <a:hlinkClick r:id="rId3"/>
              </a:rPr>
              <a:t>https://www.youtube.com/watch?v=AhFmDBq2Wgg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78808" y="3977639"/>
            <a:ext cx="438912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>
                <a:solidFill>
                  <a:srgbClr val="262626"/>
                </a:solidFill>
                <a:latin typeface="Calibri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1238</Words>
  <Application>Microsoft Office PowerPoint</Application>
  <PresentationFormat>On-screen Show (4:3)</PresentationFormat>
  <Paragraphs>153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Lato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 CLASS DIAGRAM</vt:lpstr>
      <vt:lpstr>PACKAGE : model</vt:lpstr>
      <vt:lpstr>PACKAGE : util</vt:lpstr>
      <vt:lpstr>PACKAGE : exception</vt:lpstr>
      <vt:lpstr>PACKAGE : controller</vt:lpstr>
      <vt:lpstr>PACKAGE : view</vt:lpstr>
      <vt:lpstr>PowerPoint Presentation</vt:lpstr>
      <vt:lpstr>Abstraction</vt:lpstr>
      <vt:lpstr>Inheritance</vt:lpstr>
      <vt:lpstr>Encapsulation</vt:lpstr>
      <vt:lpstr>Polymorphism  </vt:lpstr>
      <vt:lpstr>Association</vt:lpstr>
      <vt:lpstr>Aggregation</vt:lpstr>
      <vt:lpstr>Composition</vt:lpstr>
      <vt:lpstr>PowerPoint Presentation</vt:lpstr>
      <vt:lpstr>OBSERVER-DRIVEN DAILY SIMULATION</vt:lpstr>
      <vt:lpstr>OBSERVER-DRIVEN DAILY SIMULATION</vt:lpstr>
      <vt:lpstr>DYNAMIC CROP LIFECYCLE &amp; STRESS</vt:lpstr>
      <vt:lpstr>DYNAMIC CROP LIFECYCLE &amp; STRESS</vt:lpstr>
      <vt:lpstr>DECOUPLED SCENE ROUTING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Tri Nguyen</cp:lastModifiedBy>
  <cp:revision>20</cp:revision>
  <dcterms:created xsi:type="dcterms:W3CDTF">2021-05-28T04:32:29Z</dcterms:created>
  <dcterms:modified xsi:type="dcterms:W3CDTF">2026-06-28T03:46:45Z</dcterms:modified>
</cp:coreProperties>
</file>